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02430"/>
                </a:solidFill>
                <a:latin typeface="Calibri"/>
              </a:rPr>
              <a:t>Evaluation Metrics on 10,000 Unseen MNIST Test Images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B30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99.11</c:v>
                </c:pt>
                <c:pt idx="1">
                  <c:v>99.1</c:v>
                </c:pt>
                <c:pt idx="2">
                  <c:v>99.09</c:v>
                </c:pt>
                <c:pt idx="3">
                  <c:v>99.1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0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8"/>
        </c:scaling>
        <c:delete val="0"/>
        <c:axPos val="l"/>
        <c:majorGridlines>
          <c:spPr>
            <a:ln w="12700" cap="flat">
              <a:solidFill>
                <a:srgbClr val="E4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5" Type="http://schemas.openxmlformats.org/officeDocument/2006/relationships/slide" Target="slide4.xml"/><Relationship Id="rId7" Type="http://schemas.openxmlformats.org/officeDocument/2006/relationships/slide" Target="slide5.xml"/><Relationship Id="rId9" Type="http://schemas.openxmlformats.org/officeDocument/2006/relationships/slide" Target="slide11.xml"/><Relationship Id="rId11" Type="http://schemas.openxmlformats.org/officeDocument/2006/relationships/slide" Target="slide16.xml"/><Relationship Id="rId13" Type="http://schemas.openxmlformats.org/officeDocument/2006/relationships/slide" Target="slide18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image" Target="../media/image-2-5.png"/><Relationship Id="rId10" Type="http://schemas.openxmlformats.org/officeDocument/2006/relationships/image" Target="../media/image-2-6.png"/><Relationship Id="rId12" Type="http://schemas.openxmlformats.org/officeDocument/2006/relationships/image" Target="../media/image-2-7.png"/><Relationship Id="rId14" Type="http://schemas.openxmlformats.org/officeDocument/2006/relationships/image" Target="../media/image-2-1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jpg"/><Relationship Id="rId9" Type="http://schemas.openxmlformats.org/officeDocument/2006/relationships/image" Target="../media/image-7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image" Target="../media/image-8-8.png"/><Relationship Id="rId10" Type="http://schemas.openxmlformats.org/officeDocument/2006/relationships/image" Target="../media/image-8-9.png"/><Relationship Id="rId11" Type="http://schemas.openxmlformats.org/officeDocument/2006/relationships/image" Target="../media/image-8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0-1.png"/><Relationship Id="rId3" Type="http://schemas.openxmlformats.org/officeDocument/2006/relationships/image" Target="../media/image-10-2.jp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image" Target="../media/image-13-5.png"/><Relationship Id="rId7" Type="http://schemas.openxmlformats.org/officeDocument/2006/relationships/image" Target="../media/image-13-6.png"/><Relationship Id="rId8" Type="http://schemas.openxmlformats.org/officeDocument/2006/relationships/image" Target="../media/image-13-7.jpg"/><Relationship Id="rId9" Type="http://schemas.openxmlformats.org/officeDocument/2006/relationships/image" Target="../media/image-13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image" Target="../media/image-14-4.png"/><Relationship Id="rId6" Type="http://schemas.openxmlformats.org/officeDocument/2006/relationships/image" Target="../media/image-14-5.png"/><Relationship Id="rId7" Type="http://schemas.openxmlformats.org/officeDocument/2006/relationships/image" Target="../media/image-14-6.png"/><Relationship Id="rId8" Type="http://schemas.openxmlformats.org/officeDocument/2006/relationships/image" Target="../media/image-14-7.png"/><Relationship Id="rId9" Type="http://schemas.openxmlformats.org/officeDocument/2006/relationships/image" Target="../media/image-14-8.png"/><Relationship Id="rId10" Type="http://schemas.openxmlformats.org/officeDocument/2006/relationships/image" Target="../media/image-14-9.png"/><Relationship Id="rId11" Type="http://schemas.openxmlformats.org/officeDocument/2006/relationships/image" Target="../media/image-14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5-1.png"/><Relationship Id="rId3" Type="http://schemas.openxmlformats.org/officeDocument/2006/relationships/image" Target="../media/image-15-2.jpg"/><Relationship Id="rId4" Type="http://schemas.openxmlformats.org/officeDocument/2006/relationships/image" Target="../media/image-15-3.jpg"/><Relationship Id="rId5" Type="http://schemas.openxmlformats.org/officeDocument/2006/relationships/image" Target="../media/image-1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3.png"/><Relationship Id="rId5" Type="http://schemas.openxmlformats.org/officeDocument/2006/relationships/image" Target="../media/image-17-4.png"/><Relationship Id="rId6" Type="http://schemas.openxmlformats.org/officeDocument/2006/relationships/image" Target="../media/image-17-5.png"/><Relationship Id="rId7" Type="http://schemas.openxmlformats.org/officeDocument/2006/relationships/image" Target="../media/image-17-6.png"/><Relationship Id="rId8" Type="http://schemas.openxmlformats.org/officeDocument/2006/relationships/image" Target="../media/image-17-7.png"/><Relationship Id="rId9" Type="http://schemas.openxmlformats.org/officeDocument/2006/relationships/image" Target="../media/image-17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8-1.png"/><Relationship Id="rId3" Type="http://schemas.openxmlformats.org/officeDocument/2006/relationships/image" Target="../media/image-18-2.jpg"/><Relationship Id="rId4" Type="http://schemas.openxmlformats.org/officeDocument/2006/relationships/image" Target="../media/image-18-3.png"/><Relationship Id="rId5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212080"/>
            <a:ext cx="2011680" cy="20116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5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116" y="5029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  •  IILM UNIVERSITY, GREATER NOIDA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Internship at CodeAlpha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Character Recognition using CNN  &amp;  Speech Emotion Recognition using Deep Learning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59836" y="429768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0203F"/>
          </a:solidFill>
          <a:ln w="12700">
            <a:solidFill>
              <a:srgbClr val="2A3F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1276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ADARSH KUMAR THAKUR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51276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CS-2341736     |     Batch: 2026–2027     |     B.Tech CSE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51276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20th July 2026 – 20th August 2026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1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the sections below to explore — an interactive project report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560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51560" y="749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section to jump straight to it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305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655064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1808683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399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554480" y="15270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CodeAlpha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 &amp; internship track</a:t>
            </a:r>
            <a:endParaRPr lang="en-US" sz="1150" dirty="0"/>
          </a:p>
        </p:txBody>
      </p:sp>
      <p:sp>
        <p:nvSpPr>
          <p:cNvPr id="11" name="Shape 7">
            <a:hlinkClick r:id="rId3" tooltip="" action="ppaction://hlinksldjump"/>
          </p:cNvPr>
          <p:cNvSpPr/>
          <p:nvPr/>
        </p:nvSpPr>
        <p:spPr>
          <a:xfrm>
            <a:off x="502920" y="1325880"/>
            <a:ext cx="5349240" cy="1298448"/>
          </a:xfrm>
          <a:prstGeom prst="roundRect">
            <a:avLst>
              <a:gd name="adj" fmla="val 7042"/>
            </a:avLst>
          </a:prstGeom>
          <a:ln/>
        </p:spPr>
      </p:sp>
      <p:sp>
        <p:nvSpPr>
          <p:cNvPr id="12" name="Shape 8"/>
          <p:cNvSpPr/>
          <p:nvPr/>
        </p:nvSpPr>
        <p:spPr>
          <a:xfrm>
            <a:off x="6172200" y="13258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305C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0" y="1655064"/>
            <a:ext cx="640080" cy="6400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1808683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1399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223760" y="15270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role &amp; objectives</a:t>
            </a:r>
            <a:endParaRPr lang="en-US" sz="1150" dirty="0"/>
          </a:p>
        </p:txBody>
      </p:sp>
      <p:sp>
        <p:nvSpPr>
          <p:cNvPr id="18" name="Shape 13">
            <a:hlinkClick r:id="rId5" tooltip="" action="ppaction://hlinksldjump"/>
          </p:cNvPr>
          <p:cNvSpPr/>
          <p:nvPr/>
        </p:nvSpPr>
        <p:spPr>
          <a:xfrm>
            <a:off x="6172200" y="1325880"/>
            <a:ext cx="5349240" cy="1298448"/>
          </a:xfrm>
          <a:prstGeom prst="roundRect">
            <a:avLst>
              <a:gd name="adj" fmla="val 7042"/>
            </a:avLst>
          </a:prstGeom>
          <a:ln/>
        </p:spPr>
      </p:sp>
      <p:sp>
        <p:nvSpPr>
          <p:cNvPr id="19" name="Shape 14"/>
          <p:cNvSpPr/>
          <p:nvPr/>
        </p:nvSpPr>
        <p:spPr>
          <a:xfrm>
            <a:off x="502920" y="283464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305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163824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3317443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29077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554480" y="3035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 – Digit Recognition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55448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on MNIST | 99.11% accuracy</a:t>
            </a:r>
            <a:endParaRPr lang="en-US" sz="1150" dirty="0"/>
          </a:p>
        </p:txBody>
      </p:sp>
      <p:sp>
        <p:nvSpPr>
          <p:cNvPr id="25" name="Shape 19">
            <a:hlinkClick r:id="rId7" tooltip="" action="ppaction://hlinksldjump"/>
          </p:cNvPr>
          <p:cNvSpPr/>
          <p:nvPr/>
        </p:nvSpPr>
        <p:spPr>
          <a:xfrm>
            <a:off x="502920" y="2834640"/>
            <a:ext cx="5349240" cy="1298448"/>
          </a:xfrm>
          <a:prstGeom prst="roundRect">
            <a:avLst>
              <a:gd name="adj" fmla="val 7042"/>
            </a:avLst>
          </a:prstGeom>
          <a:ln/>
        </p:spPr>
      </p:sp>
      <p:sp>
        <p:nvSpPr>
          <p:cNvPr id="26" name="Shape 20"/>
          <p:cNvSpPr/>
          <p:nvPr/>
        </p:nvSpPr>
        <p:spPr>
          <a:xfrm>
            <a:off x="6172200" y="283464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305C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0" y="3163824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4419" y="3317443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00800" y="29077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223760" y="3035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 – Speech Emotion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722376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on speech audio</a:t>
            </a:r>
            <a:endParaRPr lang="en-US" sz="1150" dirty="0"/>
          </a:p>
        </p:txBody>
      </p:sp>
      <p:sp>
        <p:nvSpPr>
          <p:cNvPr id="32" name="Shape 25">
            <a:hlinkClick r:id="rId9" tooltip="" action="ppaction://hlinksldjump"/>
          </p:cNvPr>
          <p:cNvSpPr/>
          <p:nvPr/>
        </p:nvSpPr>
        <p:spPr>
          <a:xfrm>
            <a:off x="6172200" y="2834640"/>
            <a:ext cx="5349240" cy="1298448"/>
          </a:xfrm>
          <a:prstGeom prst="roundRect">
            <a:avLst>
              <a:gd name="adj" fmla="val 7042"/>
            </a:avLst>
          </a:prstGeom>
          <a:ln/>
        </p:spPr>
      </p:sp>
      <p:sp>
        <p:nvSpPr>
          <p:cNvPr id="33" name="Shape 26"/>
          <p:cNvSpPr/>
          <p:nvPr/>
        </p:nvSpPr>
        <p:spPr>
          <a:xfrm>
            <a:off x="502920" y="434340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305C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31520" y="4672584"/>
            <a:ext cx="640080" cy="6400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139" y="4826203"/>
            <a:ext cx="332842" cy="33284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31520" y="4416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554480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Key Learnings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1554480" y="5029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across both projects</a:t>
            </a:r>
            <a:endParaRPr lang="en-US" sz="1150" dirty="0"/>
          </a:p>
        </p:txBody>
      </p:sp>
      <p:sp>
        <p:nvSpPr>
          <p:cNvPr id="39" name="Shape 31">
            <a:hlinkClick r:id="rId11" tooltip="" action="ppaction://hlinksldjump"/>
          </p:cNvPr>
          <p:cNvSpPr/>
          <p:nvPr/>
        </p:nvSpPr>
        <p:spPr>
          <a:xfrm>
            <a:off x="502920" y="4343400"/>
            <a:ext cx="5349240" cy="1298448"/>
          </a:xfrm>
          <a:prstGeom prst="roundRect">
            <a:avLst>
              <a:gd name="adj" fmla="val 7042"/>
            </a:avLst>
          </a:prstGeom>
          <a:ln/>
        </p:spPr>
      </p:sp>
      <p:sp>
        <p:nvSpPr>
          <p:cNvPr id="40" name="Shape 32"/>
          <p:cNvSpPr/>
          <p:nvPr/>
        </p:nvSpPr>
        <p:spPr>
          <a:xfrm>
            <a:off x="6172200" y="434340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305C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00800" y="4672584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4419" y="4826203"/>
            <a:ext cx="332842" cy="33284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400800" y="4416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7223760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Closing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7223760" y="5029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 &amp; acknowledgements</a:t>
            </a:r>
            <a:endParaRPr lang="en-US" sz="1150" dirty="0"/>
          </a:p>
        </p:txBody>
      </p:sp>
      <p:sp>
        <p:nvSpPr>
          <p:cNvPr id="46" name="Shape 37">
            <a:hlinkClick r:id="rId13" tooltip="" action="ppaction://hlinksldjump"/>
          </p:cNvPr>
          <p:cNvSpPr/>
          <p:nvPr/>
        </p:nvSpPr>
        <p:spPr>
          <a:xfrm>
            <a:off x="6172200" y="4343400"/>
            <a:ext cx="5349240" cy="1298448"/>
          </a:xfrm>
          <a:prstGeom prst="roundRect">
            <a:avLst>
              <a:gd name="adj" fmla="val 7042"/>
            </a:avLst>
          </a:prstGeom>
          <a:ln/>
        </p:spPr>
      </p:sp>
      <p:pic>
        <p:nvPicPr>
          <p:cNvPr id="47" name="Image 7" descr="/home/claude/imgs/iilm_badg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CodeAlpha — Organization Profile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6309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technology-focused organization offering virtual internship programs in Machine Learning, Web Development, Android Development, Data Science, Python, and Cyber Security.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bridge the gap between academic learning and industry requirements through practical, project-based internship experiences.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select and independently implement projects from a defined task list within a fixed duration.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successful completion, CodeAlpha issues an official Certificate of Completion and a Letter of Recommendation.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783080"/>
            <a:ext cx="4389120" cy="1097280"/>
          </a:xfrm>
          <a:prstGeom prst="roundRect">
            <a:avLst>
              <a:gd name="adj" fmla="val 8333"/>
            </a:avLst>
          </a:prstGeom>
          <a:solidFill>
            <a:srgbClr val="1B305C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2011680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699" y="21652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66760" y="19476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366760" y="2240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269480" y="3108960"/>
            <a:ext cx="4389120" cy="1097280"/>
          </a:xfrm>
          <a:prstGeom prst="roundRect">
            <a:avLst>
              <a:gd name="adj" fmla="val 8333"/>
            </a:avLst>
          </a:prstGeom>
          <a:solidFill>
            <a:srgbClr val="972836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0" y="3337560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99" y="34911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2735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36676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MCA, Govt. of India ref.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269480" y="4434840"/>
            <a:ext cx="4389120" cy="1097280"/>
          </a:xfrm>
          <a:prstGeom prst="roundRect">
            <a:avLst>
              <a:gd name="adj" fmla="val 8333"/>
            </a:avLst>
          </a:prstGeom>
          <a:solidFill>
            <a:srgbClr val="1B305C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0" y="4663440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699" y="48170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36676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/ Remote</a:t>
            </a:r>
            <a:endParaRPr lang="en-US" sz="1500" dirty="0"/>
          </a:p>
        </p:txBody>
      </p:sp>
      <p:pic>
        <p:nvPicPr>
          <p:cNvPr id="23" name="Image 4" descr="/home/claude/imgs/iilm_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Duration, Role &amp; Objectives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15798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20th July 2026 – 20th August 2026 (1 Month)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8288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355080" y="215798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Intern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8620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31181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 Program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27889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8620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31181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independent end-to-end ML/DL projects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3977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452628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Machine Learning and Deep Learning concepts to real, practical problem statements.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complete ML pipeline: data preprocessing → model design → training → evaluation → deployment.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trained models as interactive, usable web applications (Streamlit and Flask).</a:t>
            </a:r>
            <a:endParaRPr lang="en-US" sz="1400" dirty="0"/>
          </a:p>
        </p:txBody>
      </p:sp>
      <p:pic>
        <p:nvPicPr>
          <p:cNvPr id="21" name="Image 1" descr="/home/claude/imgs/iilm_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572000" cy="457200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840480" cy="384048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179222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63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Handwritten Character Recognition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 (CNN)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4892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  •  TensorFlow / Keras  •  OpenCV  •  Streamlit</a:t>
            </a:r>
            <a:endParaRPr lang="en-US" sz="1300" dirty="0"/>
          </a:p>
        </p:txBody>
      </p:sp>
      <p:pic>
        <p:nvPicPr>
          <p:cNvPr id="11" name="Image 1" descr="/home/claude/imgs/iilm_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7EDF9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20004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8680" y="278892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varies widely from person to person in shape, size, slant, and stroke thickness, making rule-based digit recognition unreliable. The goal was to design and train a deep learning model that accurately classifies a handwritten digit image (0–9) into its correct class — with applications in postal sorting, cheque processing, and OCR.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263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2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263640" y="22402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CNN capable of recognizing handwritten digits from image data.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raw digit images using OpenCV for CNN-ready input.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validate on the MNIST dataset for high test accuracy.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precision, recall, F1-score, and confusion matrix.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an interactive Streamlit web app with confidence scores.</a:t>
            </a:r>
            <a:endParaRPr lang="en-US" sz="1350" dirty="0"/>
          </a:p>
        </p:txBody>
      </p:sp>
      <p:pic>
        <p:nvPicPr>
          <p:cNvPr id="14" name="Image 2" descr="/home/claude/imgs/iilm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Working Pipeline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65860" y="2450592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79" y="2604211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Upload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handwritten digit image via Streamlit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50592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13" name="Shape 9"/>
          <p:cNvSpPr/>
          <p:nvPr/>
        </p:nvSpPr>
        <p:spPr>
          <a:xfrm>
            <a:off x="2715768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2988" y="2450592"/>
            <a:ext cx="640080" cy="6400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607" y="2604211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88920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788920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resize to 28×28, normalize (OpenCV)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17720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19" name="Shape 14"/>
          <p:cNvSpPr/>
          <p:nvPr/>
        </p:nvSpPr>
        <p:spPr>
          <a:xfrm>
            <a:off x="4882896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500116" y="2450592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735" y="260421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56048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Model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56048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Pooling + Dense layers extract &amp; classify features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784848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25" name="Shape 19"/>
          <p:cNvSpPr/>
          <p:nvPr/>
        </p:nvSpPr>
        <p:spPr>
          <a:xfrm>
            <a:off x="7050024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67244" y="2450592"/>
            <a:ext cx="640080" cy="6400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0863" y="2604211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23176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 Output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123176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 across 10 digit classes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951976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31" name="Shape 24"/>
          <p:cNvSpPr/>
          <p:nvPr/>
        </p:nvSpPr>
        <p:spPr>
          <a:xfrm>
            <a:off x="9217152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834372" y="2450592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7991" y="2604211"/>
            <a:ext cx="332842" cy="33284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90304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9290304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digit + confidence score shown to user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42976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pipeline mirrors a standard image-classification workflow — from raw pixel input to a confident, human-readable prediction on the deployed Streamlit app shown alongside.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7726680" y="4224528"/>
            <a:ext cx="2992911" cy="1746504"/>
          </a:xfrm>
          <a:prstGeom prst="roundRect">
            <a:avLst>
              <a:gd name="adj" fmla="val 3141"/>
            </a:avLst>
          </a:prstGeom>
          <a:solidFill>
            <a:srgbClr val="0C1424"/>
          </a:solidFill>
          <a:ln/>
        </p:spPr>
      </p:sp>
      <p:pic>
        <p:nvPicPr>
          <p:cNvPr id="38" name="Image 6" descr="/home/claude/imgs/digit_app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9832" y="4297680"/>
            <a:ext cx="2846607" cy="1600200"/>
          </a:xfrm>
          <a:prstGeom prst="rect">
            <a:avLst/>
          </a:prstGeom>
        </p:spPr>
      </p:pic>
      <p:pic>
        <p:nvPicPr>
          <p:cNvPr id="39" name="Image 7" descr="/home/claude/imgs/iilm_bad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8" name="Shape 5"/>
          <p:cNvSpPr/>
          <p:nvPr/>
        </p:nvSpPr>
        <p:spPr>
          <a:xfrm>
            <a:off x="1531620" y="202996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9" y="2183587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918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13" name="Shape 9"/>
          <p:cNvSpPr/>
          <p:nvPr/>
        </p:nvSpPr>
        <p:spPr>
          <a:xfrm>
            <a:off x="4274820" y="202996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218358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/ Keras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832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design &amp; training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350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18" name="Shape 13"/>
          <p:cNvSpPr/>
          <p:nvPr/>
        </p:nvSpPr>
        <p:spPr>
          <a:xfrm>
            <a:off x="7018020" y="202996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639" y="218358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64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1264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Conv, pooling, dense layers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7782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23" name="Shape 17"/>
          <p:cNvSpPr/>
          <p:nvPr/>
        </p:nvSpPr>
        <p:spPr>
          <a:xfrm>
            <a:off x="9761220" y="202996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839" y="2183587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8696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486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28" name="Shape 21"/>
          <p:cNvSpPr/>
          <p:nvPr/>
        </p:nvSpPr>
        <p:spPr>
          <a:xfrm>
            <a:off x="1531620" y="390448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239" y="4058107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00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400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32918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33" name="Shape 25"/>
          <p:cNvSpPr/>
          <p:nvPr/>
        </p:nvSpPr>
        <p:spPr>
          <a:xfrm>
            <a:off x="4274820" y="390448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8439" y="4058107"/>
            <a:ext cx="332842" cy="33284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3832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33832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confusion matrix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60350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38" name="Shape 29"/>
          <p:cNvSpPr/>
          <p:nvPr/>
        </p:nvSpPr>
        <p:spPr>
          <a:xfrm>
            <a:off x="7018020" y="390448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1639" y="4058107"/>
            <a:ext cx="332842" cy="33284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1264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61264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deployment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87782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43" name="Shape 33"/>
          <p:cNvSpPr/>
          <p:nvPr/>
        </p:nvSpPr>
        <p:spPr>
          <a:xfrm>
            <a:off x="9761220" y="390448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4839" y="4058107"/>
            <a:ext cx="332842" cy="33284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8696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MNIST Dataset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88696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train / 10k test digit images</a:t>
            </a:r>
            <a:endParaRPr lang="en-US" sz="950" dirty="0"/>
          </a:p>
        </p:txBody>
      </p:sp>
      <p:pic>
        <p:nvPicPr>
          <p:cNvPr id="47" name="Image 9" descr="/home/claude/imgs/iilm_bad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&amp; Results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B305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745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99.11%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972836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18745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0.0298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29768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7830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B305C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18745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0.9910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04672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429000"/>
          <a:ext cx="6035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Shape 13"/>
          <p:cNvSpPr/>
          <p:nvPr/>
        </p:nvSpPr>
        <p:spPr>
          <a:xfrm>
            <a:off x="6858000" y="3429000"/>
            <a:ext cx="4800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08660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086600" y="397764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strong performance across all ten digit classes.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test loss (0.0298) indicates confident, well-calibrated predictions.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confirmed minimal misclassification between visually similar digits (e.g., 4 vs 9).</a:t>
            </a:r>
            <a:endParaRPr lang="en-US" sz="1200" dirty="0"/>
          </a:p>
        </p:txBody>
      </p:sp>
      <p:pic>
        <p:nvPicPr>
          <p:cNvPr id="20" name="Image 1" descr="/home/claude/imgs/iilm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Streamlit Interface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0C1424"/>
          </a:solidFill>
          <a:ln/>
        </p:spPr>
      </p:sp>
      <p:pic>
        <p:nvPicPr>
          <p:cNvPr id="8" name="Image 1" descr="/home/claude/imgs/digit_ap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38528"/>
            <a:ext cx="6620256" cy="3721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266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2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26680" y="219456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drags &amp; drops or browses a digit image (JPG/PNG).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preprocesses the image and feeds it to the trained CNN.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digit is displayed instantly with a confidence score.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 and performance metrics are viewable in-app.</a:t>
            </a:r>
            <a:endParaRPr lang="en-US" sz="1250" dirty="0"/>
          </a:p>
        </p:txBody>
      </p:sp>
      <p:pic>
        <p:nvPicPr>
          <p:cNvPr id="11" name="Image 2" descr="/home/claude/imgs/iilm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114800"/>
            <a:ext cx="4572000" cy="457200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3840480" cy="384048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179222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63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Emotion Recognition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4892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(MFCC)  •  TensorFlow / Keras  •  Flask  •  Matplotlib</a:t>
            </a:r>
            <a:endParaRPr lang="en-US" sz="1300" dirty="0"/>
          </a:p>
        </p:txBody>
      </p:sp>
      <p:pic>
        <p:nvPicPr>
          <p:cNvPr id="11" name="Image 1" descr="/home/claude/imgs/iilm_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7EDF9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20004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8680" y="278892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speech carries emotional information through tone, pitch, and rhythm — valuable for call-center analysis, virtual assistants, and human-computer interaction. The goal was to build a deep-learning system that analyzes raw speech audio and correctly classifies the expressed emotion, despite variation in speakers, recording conditions, and background noise.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263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2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263640" y="22402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DL system to classify emotion from speech audio.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MFCC features that capture emotional characteristics.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train &amp; evaluate a deep learning classification model.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model with a Flask web app for live predictions.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real-world challenges: noise, voice &amp; recording variance.</a:t>
            </a:r>
            <a:endParaRPr lang="en-US" sz="1350" dirty="0"/>
          </a:p>
        </p:txBody>
      </p:sp>
      <p:pic>
        <p:nvPicPr>
          <p:cNvPr id="14" name="Image 2" descr="/home/claude/imgs/iilm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Working Pipeline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65860" y="2450592"/>
            <a:ext cx="640080" cy="6400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79" y="2604211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Upload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.wav speech file via Flask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50592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13" name="Shape 9"/>
          <p:cNvSpPr/>
          <p:nvPr/>
        </p:nvSpPr>
        <p:spPr>
          <a:xfrm>
            <a:off x="2715768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2988" y="2450592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607" y="2604211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88920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788920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features extracted using Librosa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17720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19" name="Shape 14"/>
          <p:cNvSpPr/>
          <p:nvPr/>
        </p:nvSpPr>
        <p:spPr>
          <a:xfrm>
            <a:off x="4882896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500116" y="2450592"/>
            <a:ext cx="640080" cy="6400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735" y="260421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56048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 Classifier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56048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model maps features to emotion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784848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25" name="Shape 19"/>
          <p:cNvSpPr/>
          <p:nvPr/>
        </p:nvSpPr>
        <p:spPr>
          <a:xfrm>
            <a:off x="7050024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67244" y="2450592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0863" y="2604211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23176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Backend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123176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+ predict.py run inference on upload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951976" y="3049524"/>
            <a:ext cx="237744" cy="164592"/>
          </a:xfrm>
          <a:prstGeom prst="rightArrow">
            <a:avLst/>
          </a:prstGeom>
          <a:solidFill>
            <a:srgbClr val="C7CFE0"/>
          </a:solidFill>
          <a:ln/>
        </p:spPr>
      </p:sp>
      <p:sp>
        <p:nvSpPr>
          <p:cNvPr id="31" name="Shape 24"/>
          <p:cNvSpPr/>
          <p:nvPr/>
        </p:nvSpPr>
        <p:spPr>
          <a:xfrm>
            <a:off x="9217152" y="2286000"/>
            <a:ext cx="1874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834372" y="2450592"/>
            <a:ext cx="640080" cy="64008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7991" y="2604211"/>
            <a:ext cx="332842" cy="33284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90304" y="31546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Output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9290304" y="352044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emotion + probability breakdown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42976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backend loads the trained model via predict.py (load_artifacts, predict_emotion) and renders results to the browser, shown alongside.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7726680" y="4224528"/>
            <a:ext cx="2992911" cy="1746504"/>
          </a:xfrm>
          <a:prstGeom prst="roundRect">
            <a:avLst>
              <a:gd name="adj" fmla="val 3141"/>
            </a:avLst>
          </a:prstGeom>
          <a:solidFill>
            <a:srgbClr val="0C1424"/>
          </a:solidFill>
          <a:ln/>
        </p:spPr>
      </p:sp>
      <p:pic>
        <p:nvPicPr>
          <p:cNvPr id="38" name="Image 6" descr="/home/claude/imgs/ser_app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9832" y="4297680"/>
            <a:ext cx="2846607" cy="1600200"/>
          </a:xfrm>
          <a:prstGeom prst="rect">
            <a:avLst/>
          </a:prstGeom>
        </p:spPr>
      </p:pic>
      <p:pic>
        <p:nvPicPr>
          <p:cNvPr id="39" name="Image 7" descr="/home/claude/imgs/iilm_bad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8" name="Shape 5"/>
          <p:cNvSpPr/>
          <p:nvPr/>
        </p:nvSpPr>
        <p:spPr>
          <a:xfrm>
            <a:off x="1531620" y="202996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9" y="2183587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918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13" name="Shape 9"/>
          <p:cNvSpPr/>
          <p:nvPr/>
        </p:nvSpPr>
        <p:spPr>
          <a:xfrm>
            <a:off x="4274820" y="202996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218358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/ Keras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832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classification model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350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18" name="Shape 13"/>
          <p:cNvSpPr/>
          <p:nvPr/>
        </p:nvSpPr>
        <p:spPr>
          <a:xfrm>
            <a:off x="7018020" y="202996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639" y="218358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64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Librosa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1264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loading &amp; MFCC extraction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778240" y="1828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972836"/>
          </a:solidFill>
          <a:ln/>
        </p:spPr>
      </p:sp>
      <p:sp>
        <p:nvSpPr>
          <p:cNvPr id="23" name="Shape 17"/>
          <p:cNvSpPr/>
          <p:nvPr/>
        </p:nvSpPr>
        <p:spPr>
          <a:xfrm>
            <a:off x="9761220" y="2029968"/>
            <a:ext cx="640080" cy="640080"/>
          </a:xfrm>
          <a:prstGeom prst="ellipse">
            <a:avLst/>
          </a:prstGeom>
          <a:solidFill>
            <a:srgbClr val="6E1D2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839" y="2183587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/ Pandas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8696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&amp; tabular data handling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486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28" name="Shape 21"/>
          <p:cNvSpPr/>
          <p:nvPr/>
        </p:nvSpPr>
        <p:spPr>
          <a:xfrm>
            <a:off x="1531620" y="390448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239" y="4058107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00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400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metrics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32918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33" name="Shape 25"/>
          <p:cNvSpPr/>
          <p:nvPr/>
        </p:nvSpPr>
        <p:spPr>
          <a:xfrm>
            <a:off x="4274820" y="390448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8439" y="4058107"/>
            <a:ext cx="332842" cy="33284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3832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33832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results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60350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38" name="Shape 29"/>
          <p:cNvSpPr/>
          <p:nvPr/>
        </p:nvSpPr>
        <p:spPr>
          <a:xfrm>
            <a:off x="7018020" y="390448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1639" y="4058107"/>
            <a:ext cx="332842" cy="33284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1264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61264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backend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8778240" y="3703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305C"/>
          </a:solidFill>
          <a:ln/>
        </p:spPr>
      </p:sp>
      <p:sp>
        <p:nvSpPr>
          <p:cNvPr id="43" name="Shape 33"/>
          <p:cNvSpPr/>
          <p:nvPr/>
        </p:nvSpPr>
        <p:spPr>
          <a:xfrm>
            <a:off x="9761220" y="3904488"/>
            <a:ext cx="640080" cy="64008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4839" y="4058107"/>
            <a:ext cx="332842" cy="33284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869680" y="4617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 / predict.py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8869680" y="4937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 &amp; inference logic</a:t>
            </a:r>
            <a:endParaRPr lang="en-US" sz="950" dirty="0"/>
          </a:p>
        </p:txBody>
      </p:sp>
      <p:pic>
        <p:nvPicPr>
          <p:cNvPr id="47" name="Image 9" descr="/home/claude/imgs/iilm_bad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&amp; Source Code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2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Web Interface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0C1424"/>
          </a:solidFill>
          <a:ln/>
        </p:spPr>
      </p:sp>
      <p:pic>
        <p:nvPicPr>
          <p:cNvPr id="9" name="Image 1" descr="/home/claude/imgs/ser_ap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29000"/>
            <a:ext cx="4882896" cy="27448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 — Flask Backend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943600" y="2148840"/>
            <a:ext cx="5669280" cy="3977640"/>
          </a:xfrm>
          <a:prstGeom prst="roundRect">
            <a:avLst>
              <a:gd name="adj" fmla="val 1839"/>
            </a:avLst>
          </a:prstGeom>
          <a:solidFill>
            <a:srgbClr val="0C1424"/>
          </a:solidFill>
          <a:ln/>
        </p:spPr>
      </p:sp>
      <p:pic>
        <p:nvPicPr>
          <p:cNvPr id="12" name="Image 2" descr="/home/claude/imgs/ser_cod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313432"/>
            <a:ext cx="5340096" cy="3001897"/>
          </a:xfrm>
          <a:prstGeom prst="rect">
            <a:avLst/>
          </a:prstGeom>
        </p:spPr>
      </p:pic>
      <p:pic>
        <p:nvPicPr>
          <p:cNvPr id="13" name="Image 3" descr="/home/claude/imgs/iilm_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 vs. Project 2 — At a Glance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926080" cy="621792"/>
          </a:xfrm>
          <a:prstGeom prst="rect">
            <a:avLst/>
          </a:prstGeom>
          <a:solidFill>
            <a:srgbClr val="1B305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82880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3931920" cy="621792"/>
          </a:xfrm>
          <a:prstGeom prst="rect">
            <a:avLst/>
          </a:prstGeom>
          <a:solidFill>
            <a:srgbClr val="1B305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18288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 Recognition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1828800"/>
            <a:ext cx="3931920" cy="621792"/>
          </a:xfrm>
          <a:prstGeom prst="rect">
            <a:avLst/>
          </a:prstGeom>
          <a:solidFill>
            <a:srgbClr val="1B305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18288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Emotion Recognition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450592"/>
            <a:ext cx="29260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45059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474720" y="2450592"/>
            <a:ext cx="39319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24505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(handwritten digit)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06640" y="2450592"/>
            <a:ext cx="39319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24505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(speech / .wav file)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072384"/>
            <a:ext cx="2926080" cy="621792"/>
          </a:xfrm>
          <a:prstGeom prst="rect">
            <a:avLst/>
          </a:prstGeom>
          <a:solidFill>
            <a:srgbClr val="E7ED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307238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474720" y="3072384"/>
            <a:ext cx="3931920" cy="621792"/>
          </a:xfrm>
          <a:prstGeom prst="rect">
            <a:avLst/>
          </a:prstGeom>
          <a:solidFill>
            <a:srgbClr val="E7ED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11880" y="307238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406640" y="3072384"/>
            <a:ext cx="3931920" cy="621792"/>
          </a:xfrm>
          <a:prstGeom prst="rect">
            <a:avLst/>
          </a:prstGeom>
          <a:solidFill>
            <a:srgbClr val="E7ED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307238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classifier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3694176"/>
            <a:ext cx="29260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369417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474720" y="3694176"/>
            <a:ext cx="39319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11880" y="36941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image preprocessing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06640" y="3694176"/>
            <a:ext cx="39319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43800" y="36941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extraction (Librosa)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4315968"/>
            <a:ext cx="2926080" cy="621792"/>
          </a:xfrm>
          <a:prstGeom prst="rect">
            <a:avLst/>
          </a:prstGeom>
          <a:solidFill>
            <a:srgbClr val="E7ED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431596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474720" y="4315968"/>
            <a:ext cx="3931920" cy="621792"/>
          </a:xfrm>
          <a:prstGeom prst="rect">
            <a:avLst/>
          </a:prstGeom>
          <a:solidFill>
            <a:srgbClr val="E7ED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11880" y="431596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406640" y="4315968"/>
            <a:ext cx="3931920" cy="621792"/>
          </a:xfrm>
          <a:prstGeom prst="rect">
            <a:avLst/>
          </a:prstGeom>
          <a:solidFill>
            <a:srgbClr val="E7ED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43800" y="431596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548640" y="4937760"/>
            <a:ext cx="29260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" y="49377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3474720" y="4937760"/>
            <a:ext cx="39319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11880" y="493776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99.11% test accuracy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406640" y="4937760"/>
            <a:ext cx="39319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43800" y="493776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+ probability breakdown</a:t>
            </a:r>
            <a:endParaRPr lang="en-US" sz="1250" dirty="0"/>
          </a:p>
        </p:txBody>
      </p:sp>
      <p:pic>
        <p:nvPicPr>
          <p:cNvPr id="43" name="Image 1" descr="/home/claude/imgs/iilm_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20004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Foundations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77240" y="3154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CNN and DL model design, training, and evaluation.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5196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0560" y="2057400"/>
            <a:ext cx="594360" cy="59436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206" y="220004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Processing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80560" y="3154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 using OpenCV for CNN-ready inputs.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9552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83880" y="2057400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6526" y="2200046"/>
            <a:ext cx="309067" cy="30906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8388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Signal Processing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183880" y="3154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MFCC features from raw speech using Librosa.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251960"/>
            <a:ext cx="594360" cy="59436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394606"/>
            <a:ext cx="309067" cy="30906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" y="4937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77240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F1-score, and confusion matrix analysis.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25196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80560" y="4251960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206" y="4394606"/>
            <a:ext cx="309067" cy="30906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80560" y="4937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Deployment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480560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trained models as Streamlit and Flask applications.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795528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305C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183880" y="4251960"/>
            <a:ext cx="594360" cy="594360"/>
          </a:xfrm>
          <a:prstGeom prst="ellipse">
            <a:avLst/>
          </a:prstGeom>
          <a:solidFill>
            <a:srgbClr val="97283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526" y="4394606"/>
            <a:ext cx="309067" cy="30906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83880" y="4937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Challenges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183880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handwriting variance, background noise &amp; recording variance.</a:t>
            </a:r>
            <a:endParaRPr lang="en-US" sz="1050" dirty="0"/>
          </a:p>
        </p:txBody>
      </p:sp>
      <p:pic>
        <p:nvPicPr>
          <p:cNvPr id="37" name="Image 7" descr="/home/claude/imgs/iilm_bad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"/>
            <a:ext cx="347472" cy="347472"/>
          </a:xfrm>
          <a:prstGeom prst="rect">
            <a:avLst/>
          </a:prstGeom>
        </p:spPr>
      </p:pic>
      <p:sp>
        <p:nvSpPr>
          <p:cNvPr id="3" name="Text 0">
            <a:hlinkClick r:id="rId2" tooltip="" action="ppaction://hlinksldjump"/>
          </p:cNvPr>
          <p:cNvSpPr/>
          <p:nvPr/>
        </p:nvSpPr>
        <p:spPr>
          <a:xfrm>
            <a:off x="10360152" y="292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9728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Agenda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7EDF9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 &amp; Proof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035040" cy="4434840"/>
          </a:xfrm>
          <a:prstGeom prst="roundRect">
            <a:avLst>
              <a:gd name="adj" fmla="val 1649"/>
            </a:avLst>
          </a:prstGeom>
          <a:solidFill>
            <a:srgbClr val="0C1424"/>
          </a:solidFill>
          <a:ln/>
        </p:spPr>
      </p:sp>
      <p:pic>
        <p:nvPicPr>
          <p:cNvPr id="8" name="Image 1" descr="/home/claude/imgs/cer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68880"/>
            <a:ext cx="5705856" cy="4015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965960"/>
            <a:ext cx="5705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Completion Certificate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90372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2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Details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03720" y="21945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Recipient: Adarsh Kumar Thakur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CodeAlpha Virtual Internship – Machine Learning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20th July 2026 – 20th August 2026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CA/DF1/203699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Issued: 20th August 2026, signed by CEO &amp; Co-Founder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Recommendation also issued alongside the certificate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903720" y="516636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E7EDF9"/>
          </a:solidFill>
          <a:ln/>
        </p:spPr>
      </p:sp>
      <p:sp>
        <p:nvSpPr>
          <p:cNvPr id="13" name="Shape 9"/>
          <p:cNvSpPr/>
          <p:nvPr/>
        </p:nvSpPr>
        <p:spPr>
          <a:xfrm>
            <a:off x="7114032" y="53675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1" y="552114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09560" y="52578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LOR confirmed via official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CodeAlpha Internship team.</a:t>
            </a:r>
            <a:endParaRPr lang="en-US" sz="1100" dirty="0"/>
          </a:p>
        </p:txBody>
      </p:sp>
      <p:pic>
        <p:nvPicPr>
          <p:cNvPr id="16" name="Image 3" descr="/home/claude/imgs/iilm_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635508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School of Computer Science and Engineering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365992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0203F"/>
          </a:solidFill>
          <a:ln/>
        </p:spPr>
      </p:sp>
      <p:pic>
        <p:nvPicPr>
          <p:cNvPr id="4" name="Image 0" descr="/home/claude/imgs/iilm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836" y="6858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 to CodeAlpha for the opportunity, and to the School of Computer Science and Engineering,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for their continuous guidance and support.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68396" y="4297680"/>
            <a:ext cx="5852160" cy="1234440"/>
          </a:xfrm>
          <a:prstGeom prst="roundRect">
            <a:avLst>
              <a:gd name="adj" fmla="val 8889"/>
            </a:avLst>
          </a:prstGeom>
          <a:solidFill>
            <a:srgbClr val="10203F"/>
          </a:solidFill>
          <a:ln w="12700">
            <a:solidFill>
              <a:srgbClr val="2A3F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51276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Adarsh Kumar Thakur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351276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CS-2341736   |   B.Tech CSE   |   Batch 2026–2027</a:t>
            </a:r>
            <a:endParaRPr lang="en-US" sz="1200" dirty="0"/>
          </a:p>
        </p:txBody>
      </p:sp>
      <p:sp>
        <p:nvSpPr>
          <p:cNvPr id="10" name="Text 7">
            <a:hlinkClick r:id="rId2" tooltip="" action="ppaction://hlinksldjump"/>
          </p:cNvPr>
          <p:cNvSpPr/>
          <p:nvPr/>
        </p:nvSpPr>
        <p:spPr>
          <a:xfrm>
            <a:off x="5088636" y="6035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Back to Agenda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Internship at CodeAlpha</dc:title>
  <dc:subject>PptxGenJS Presentation</dc:subject>
  <dc:creator>Adarsh Kumar Thakur</dc:creator>
  <cp:lastModifiedBy>Adarsh Kumar Thakur</cp:lastModifiedBy>
  <cp:revision>1</cp:revision>
  <dcterms:created xsi:type="dcterms:W3CDTF">2026-09-05T07:41:06Z</dcterms:created>
  <dcterms:modified xsi:type="dcterms:W3CDTF">2026-09-05T07:41:06Z</dcterms:modified>
</cp:coreProperties>
</file>